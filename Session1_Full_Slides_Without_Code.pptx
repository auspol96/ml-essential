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80" r:id="rId9"/>
    <p:sldId id="281" r:id="rId10"/>
    <p:sldId id="274" r:id="rId11"/>
    <p:sldId id="273" r:id="rId12"/>
    <p:sldId id="275" r:id="rId13"/>
    <p:sldId id="277" r:id="rId14"/>
    <p:sldId id="262" r:id="rId15"/>
    <p:sldId id="278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9"/>
          <p:cNvSpPr>
            <a:spLocks noGrp="1"/>
          </p:cNvSpPr>
          <p:nvPr>
            <p:ph type="title"/>
          </p:nvPr>
        </p:nvSpPr>
        <p:spPr>
          <a:xfrm>
            <a:off x="360000" y="714356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>
                <a:solidFill>
                  <a:srgbClr val="4F4749"/>
                </a:solidFill>
              </a:rPr>
              <a:pPr/>
              <a:t>‹#›</a:t>
            </a:fld>
            <a:endParaRPr lang="en-US" dirty="0">
              <a:solidFill>
                <a:srgbClr val="4F47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45711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 marL="233363" indent="-233363">
              <a:buSzPct val="100000"/>
              <a:defRPr sz="2000"/>
            </a:lvl1pPr>
            <a:lvl2pPr marL="627063" indent="-169863">
              <a:buSzPct val="100000"/>
              <a:buFont typeface="Arial" pitchFamily="34" charset="0"/>
              <a:buChar char="•"/>
              <a:defRPr sz="1800"/>
            </a:lvl2pPr>
            <a:lvl3pPr marL="1084263" indent="-169863">
              <a:buSzPct val="90000"/>
              <a:buFont typeface="Courier New" pitchFamily="49" charset="0"/>
              <a:buChar char="o"/>
              <a:defRPr sz="1600" i="1"/>
            </a:lvl3pPr>
            <a:lvl4pPr>
              <a:buSzPct val="100000"/>
              <a:defRPr/>
            </a:lvl4pPr>
            <a:lvl5pPr>
              <a:buSzPct val="100000"/>
              <a:defRPr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C974-5669-4F4D-B5F7-AEFAF0EB8F68}" type="slidenum">
              <a:rPr lang="en-US" smtClean="0">
                <a:solidFill>
                  <a:srgbClr val="4F4749"/>
                </a:solidFill>
              </a:rPr>
              <a:pPr/>
              <a:t>‹#›</a:t>
            </a:fld>
            <a:endParaRPr lang="en-US" dirty="0">
              <a:solidFill>
                <a:srgbClr val="4F4749"/>
              </a:solidFill>
            </a:endParaRPr>
          </a:p>
        </p:txBody>
      </p:sp>
      <p:sp>
        <p:nvSpPr>
          <p:cNvPr id="11" name="Title Placeholder 9"/>
          <p:cNvSpPr>
            <a:spLocks noGrp="1"/>
          </p:cNvSpPr>
          <p:nvPr>
            <p:ph type="title"/>
          </p:nvPr>
        </p:nvSpPr>
        <p:spPr>
          <a:xfrm>
            <a:off x="360000" y="714356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918133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9"/>
          <p:cNvSpPr>
            <a:spLocks noGrp="1"/>
          </p:cNvSpPr>
          <p:nvPr>
            <p:ph type="title"/>
          </p:nvPr>
        </p:nvSpPr>
        <p:spPr>
          <a:xfrm>
            <a:off x="360000" y="714356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58214" y="6397200"/>
            <a:ext cx="428628" cy="262800"/>
          </a:xfrm>
        </p:spPr>
        <p:txBody>
          <a:bodyPr/>
          <a:lstStyle/>
          <a:p>
            <a:fld id="{CF7A2BDD-D331-44F0-96AA-4FB4ED497064}" type="slidenum">
              <a:rPr lang="en-US" smtClean="0">
                <a:solidFill>
                  <a:srgbClr val="4F4749"/>
                </a:solidFill>
              </a:rPr>
              <a:pPr/>
              <a:t>‹#›</a:t>
            </a:fld>
            <a:endParaRPr lang="en-US" dirty="0">
              <a:solidFill>
                <a:srgbClr val="4F4749"/>
              </a:solidFill>
            </a:endParaRPr>
          </a:p>
        </p:txBody>
      </p:sp>
      <p:sp>
        <p:nvSpPr>
          <p:cNvPr id="5" name="Rectangle 3"/>
          <p:cNvSpPr>
            <a:spLocks noGrp="1"/>
          </p:cNvSpPr>
          <p:nvPr>
            <p:ph sz="half" idx="1"/>
          </p:nvPr>
        </p:nvSpPr>
        <p:spPr>
          <a:xfrm>
            <a:off x="360000" y="1434356"/>
            <a:ext cx="8424000" cy="4680000"/>
          </a:xfrm>
        </p:spPr>
        <p:txBody>
          <a:bodyPr/>
          <a:lstStyle>
            <a:lvl1pPr>
              <a:buSzPct val="100000"/>
              <a:defRPr/>
            </a:lvl1pPr>
            <a:lvl2pPr>
              <a:buSzPct val="100000"/>
              <a:defRPr/>
            </a:lvl2pPr>
            <a:lvl3pPr>
              <a:buSzPct val="100000"/>
              <a:defRPr/>
            </a:lvl3pPr>
            <a:lvl4pPr>
              <a:buSzPct val="100000"/>
              <a:defRPr/>
            </a:lvl4pPr>
            <a:lvl5pPr>
              <a:buSzPct val="100000"/>
              <a:defRPr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55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itle &amp;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360000" y="1434356"/>
            <a:ext cx="4038600" cy="4680000"/>
          </a:xfrm>
        </p:spPr>
        <p:txBody>
          <a:bodyPr/>
          <a:lstStyle>
            <a:lvl1pPr>
              <a:buSzPct val="100000"/>
              <a:defRPr/>
            </a:lvl1pPr>
            <a:lvl2pPr>
              <a:buSzPct val="100000"/>
              <a:defRPr/>
            </a:lvl2pPr>
            <a:lvl3pPr>
              <a:buSzPct val="100000"/>
              <a:defRPr/>
            </a:lvl3pPr>
            <a:lvl4pPr>
              <a:buSzPct val="100000"/>
              <a:defRPr/>
            </a:lvl4pPr>
            <a:lvl5pPr>
              <a:buSzPct val="100000"/>
              <a:defRPr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745400" y="1434356"/>
            <a:ext cx="4038600" cy="4680000"/>
          </a:xfrm>
        </p:spPr>
        <p:txBody>
          <a:bodyPr/>
          <a:lstStyle>
            <a:lvl1pPr>
              <a:buSzPct val="100000"/>
              <a:defRPr/>
            </a:lvl1pPr>
            <a:lvl2pPr>
              <a:buSzPct val="100000"/>
              <a:defRPr/>
            </a:lvl2pPr>
            <a:lvl3pPr>
              <a:buSzPct val="100000"/>
              <a:defRPr/>
            </a:lvl3pPr>
            <a:lvl4pPr>
              <a:buSzPct val="100000"/>
              <a:defRPr/>
            </a:lvl4pPr>
            <a:lvl5pPr>
              <a:buSzPct val="100000"/>
              <a:defRPr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C974-5669-4F4D-B5F7-AEFAF0EB8F68}" type="slidenum">
              <a:rPr lang="en-US" smtClean="0">
                <a:solidFill>
                  <a:srgbClr val="4F4749"/>
                </a:solidFill>
              </a:rPr>
              <a:pPr/>
              <a:t>‹#›</a:t>
            </a:fld>
            <a:endParaRPr lang="en-US" dirty="0">
              <a:solidFill>
                <a:srgbClr val="4F4749"/>
              </a:solidFill>
            </a:endParaRPr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>
          <a:xfrm>
            <a:off x="360000" y="714356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82094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itle &amp;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360000" y="1434356"/>
            <a:ext cx="4038600" cy="4680000"/>
          </a:xfrm>
        </p:spPr>
        <p:txBody>
          <a:bodyPr/>
          <a:lstStyle>
            <a:lvl1pPr>
              <a:buSzPct val="100000"/>
              <a:defRPr/>
            </a:lvl1pPr>
            <a:lvl2pPr>
              <a:buSzPct val="100000"/>
              <a:defRPr/>
            </a:lvl2pPr>
            <a:lvl3pPr>
              <a:buSzPct val="100000"/>
              <a:defRPr/>
            </a:lvl3pPr>
            <a:lvl4pPr>
              <a:buSzPct val="100000"/>
              <a:defRPr/>
            </a:lvl4pPr>
            <a:lvl5pPr>
              <a:buSzPct val="100000"/>
              <a:defRPr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745400" y="1434356"/>
            <a:ext cx="4038600" cy="4680000"/>
          </a:xfrm>
        </p:spPr>
        <p:txBody>
          <a:bodyPr/>
          <a:lstStyle>
            <a:lvl1pPr>
              <a:buSzPct val="100000"/>
              <a:defRPr/>
            </a:lvl1pPr>
            <a:lvl2pPr>
              <a:buSzPct val="100000"/>
              <a:defRPr/>
            </a:lvl2pPr>
            <a:lvl3pPr>
              <a:buSzPct val="100000"/>
              <a:defRPr/>
            </a:lvl3pPr>
            <a:lvl4pPr>
              <a:buSzPct val="100000"/>
              <a:defRPr/>
            </a:lvl4pPr>
            <a:lvl5pPr>
              <a:buSzPct val="100000"/>
              <a:defRPr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C974-5669-4F4D-B5F7-AEFAF0EB8F68}" type="slidenum">
              <a:rPr lang="en-US" smtClean="0">
                <a:solidFill>
                  <a:srgbClr val="4F4749"/>
                </a:solidFill>
              </a:rPr>
              <a:pPr/>
              <a:t>‹#›</a:t>
            </a:fld>
            <a:endParaRPr lang="en-US" dirty="0">
              <a:solidFill>
                <a:srgbClr val="4F4749"/>
              </a:solidFill>
            </a:endParaRPr>
          </a:p>
        </p:txBody>
      </p:sp>
      <p:sp>
        <p:nvSpPr>
          <p:cNvPr id="12" name="Title Placeholder 9"/>
          <p:cNvSpPr>
            <a:spLocks noGrp="1"/>
          </p:cNvSpPr>
          <p:nvPr>
            <p:ph type="title"/>
          </p:nvPr>
        </p:nvSpPr>
        <p:spPr>
          <a:xfrm>
            <a:off x="360000" y="714356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157219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&amp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3430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0" y="6325849"/>
            <a:ext cx="9144000" cy="532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itle Placeholder 9"/>
          <p:cNvSpPr>
            <a:spLocks noGrp="1"/>
          </p:cNvSpPr>
          <p:nvPr>
            <p:ph type="title"/>
          </p:nvPr>
        </p:nvSpPr>
        <p:spPr>
          <a:xfrm>
            <a:off x="360000" y="4910147"/>
            <a:ext cx="8424000" cy="66199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0000" y="5572140"/>
            <a:ext cx="8424000" cy="42862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Placeholder 9"/>
          <p:cNvSpPr txBox="1">
            <a:spLocks/>
          </p:cNvSpPr>
          <p:nvPr userDrawn="1"/>
        </p:nvSpPr>
        <p:spPr>
          <a:xfrm>
            <a:off x="107504" y="980728"/>
            <a:ext cx="8424000" cy="2016224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3600" kern="1200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1981316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42" y="767940"/>
            <a:ext cx="8424000" cy="53154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561380"/>
            <a:ext cx="8424000" cy="4552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2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6325849"/>
            <a:ext cx="9144000" cy="532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-1"/>
            <a:ext cx="9144000" cy="532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60000" y="1434356"/>
            <a:ext cx="8424000" cy="4680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58214" y="6397200"/>
            <a:ext cx="428628" cy="262800"/>
          </a:xfrm>
          <a:prstGeom prst="rect">
            <a:avLst/>
          </a:prstGeom>
        </p:spPr>
        <p:txBody>
          <a:bodyPr vert="horz" lIns="90000" tIns="36000" rIns="90000" bIns="36000" anchor="ctr" anchorCtr="0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CF7A2BDD-D331-44F0-96AA-4FB4ED497064}" type="slidenum">
              <a:rPr lang="en-US" smtClean="0">
                <a:solidFill>
                  <a:srgbClr val="4F4749"/>
                </a:solidFill>
              </a:rPr>
              <a:pPr/>
              <a:t>‹#›</a:t>
            </a:fld>
            <a:endParaRPr lang="en-US" dirty="0">
              <a:solidFill>
                <a:srgbClr val="4F4749"/>
              </a:solidFill>
            </a:endParaRPr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60000" y="714356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27"/>
          <p:cNvSpPr txBox="1">
            <a:spLocks/>
          </p:cNvSpPr>
          <p:nvPr/>
        </p:nvSpPr>
        <p:spPr>
          <a:xfrm>
            <a:off x="396000" y="117134"/>
            <a:ext cx="8388000" cy="406837"/>
          </a:xfrm>
          <a:prstGeom prst="rect">
            <a:avLst/>
          </a:prstGeom>
        </p:spPr>
        <p:txBody>
          <a:bodyPr vert="horz" anchor="b" anchorCtr="0"/>
          <a:lstStyle>
            <a:lvl1pPr algn="r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l">
              <a:defRPr/>
            </a:pPr>
            <a:endParaRPr lang="en-US" dirty="0">
              <a:solidFill>
                <a:srgbClr val="4F4749"/>
              </a:solidFill>
            </a:endParaRPr>
          </a:p>
        </p:txBody>
      </p:sp>
      <p:sp>
        <p:nvSpPr>
          <p:cNvPr id="2" name="Title Placeholder 9">
            <a:extLst>
              <a:ext uri="{FF2B5EF4-FFF2-40B4-BE49-F238E27FC236}">
                <a16:creationId xmlns:a16="http://schemas.microsoft.com/office/drawing/2014/main" id="{67B91458-1CF1-DD72-2A66-C1FEFC6392E1}"/>
              </a:ext>
            </a:extLst>
          </p:cNvPr>
          <p:cNvSpPr txBox="1">
            <a:spLocks/>
          </p:cNvSpPr>
          <p:nvPr userDrawn="1"/>
        </p:nvSpPr>
        <p:spPr>
          <a:xfrm>
            <a:off x="72453" y="6339195"/>
            <a:ext cx="8424000" cy="53154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3600" kern="1200" cap="none" baseline="0">
                <a:solidFill>
                  <a:srgbClr val="820024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1000" dirty="0"/>
              <a:t>Machine Learning in Practice by Dr. Rattapol Kasemrat</a:t>
            </a:r>
          </a:p>
        </p:txBody>
      </p:sp>
    </p:spTree>
    <p:extLst>
      <p:ext uri="{BB962C8B-B14F-4D97-AF65-F5344CB8AC3E}">
        <p14:creationId xmlns:p14="http://schemas.microsoft.com/office/powerpoint/2010/main" val="96109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>
    <p:fade/>
  </p:transition>
  <p:hf hdr="0" ftr="0" dt="0"/>
  <p:txStyles>
    <p:titleStyle>
      <a:lvl1pPr algn="l" rtl="0" eaLnBrk="1" latinLnBrk="0" hangingPunct="1">
        <a:spcBef>
          <a:spcPct val="0"/>
        </a:spcBef>
        <a:buNone/>
        <a:defRPr sz="3600" kern="1200" cap="none" baseline="0">
          <a:solidFill>
            <a:srgbClr val="820024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lnSpc>
          <a:spcPct val="125000"/>
        </a:lnSpc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Wingdings" pitchFamily="2" charset="2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58775" algn="l" rtl="0" eaLnBrk="1" latinLnBrk="0" hangingPunct="1"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Wingdings" pitchFamily="2" charset="2"/>
        <a:buChar char="§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89013" indent="-269875" algn="l" rtl="0" eaLnBrk="1" latinLnBrk="0" hangingPunct="1"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Wingdings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165225" indent="-273050" algn="l" rtl="0" eaLnBrk="1" latinLnBrk="0" hangingPunct="1"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Wingdings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431925" indent="-261938" algn="l" rtl="0" eaLnBrk="1" latinLnBrk="0" hangingPunct="1"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Wingdings" pitchFamily="2" charset="2"/>
        <a:buChar char="§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851516"/>
            <a:ext cx="8424000" cy="531546"/>
          </a:xfrm>
        </p:spPr>
        <p:txBody>
          <a:bodyPr>
            <a:normAutofit fontScale="90000"/>
          </a:bodyPr>
          <a:lstStyle/>
          <a:p>
            <a:r>
              <a:rPr dirty="0"/>
              <a:t>Machine Learning</a:t>
            </a:r>
            <a:r>
              <a:rPr lang="en-US" dirty="0"/>
              <a:t> in Practice</a:t>
            </a:r>
            <a:r>
              <a:rPr dirty="0"/>
              <a:t> for Research – Session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2020824"/>
            <a:ext cx="8424000" cy="4093532"/>
          </a:xfrm>
        </p:spPr>
        <p:txBody>
          <a:bodyPr/>
          <a:lstStyle/>
          <a:p>
            <a:r>
              <a:rPr dirty="0"/>
              <a:t>Foundations &amp; Dataset Understanding</a:t>
            </a:r>
          </a:p>
          <a:p>
            <a:pPr marL="0" indent="0">
              <a:buNone/>
            </a:pPr>
            <a:r>
              <a:rPr lang="th-TH" dirty="0"/>
              <a:t>	</a:t>
            </a:r>
            <a:r>
              <a:rPr dirty="0"/>
              <a:t>Lecturer: Dr. Rattapol Kasemrat</a:t>
            </a:r>
          </a:p>
          <a:p>
            <a:pPr marL="0" indent="0">
              <a:buNone/>
            </a:pPr>
            <a:r>
              <a:rPr lang="th-TH" dirty="0"/>
              <a:t>	</a:t>
            </a:r>
            <a:r>
              <a:rPr dirty="0"/>
              <a:t>Program: PhD &amp; </a:t>
            </a:r>
            <a:r>
              <a:rPr lang="en-US" dirty="0"/>
              <a:t>Master</a:t>
            </a:r>
            <a:endParaRPr dirty="0"/>
          </a:p>
          <a:p>
            <a:pPr marL="0" indent="0">
              <a:buNone/>
            </a:pPr>
            <a:r>
              <a:rPr lang="th-TH" dirty="0"/>
              <a:t>	</a:t>
            </a:r>
            <a:r>
              <a:rPr dirty="0"/>
              <a:t>University: Rangsit University</a:t>
            </a:r>
          </a:p>
        </p:txBody>
      </p:sp>
      <p:pic>
        <p:nvPicPr>
          <p:cNvPr id="5" name="Picture 4" descr="A person in a suit holding a yellow folder&#10;&#10;AI-generated content may be incorrect.">
            <a:extLst>
              <a:ext uri="{FF2B5EF4-FFF2-40B4-BE49-F238E27FC236}">
                <a16:creationId xmlns:a16="http://schemas.microsoft.com/office/drawing/2014/main" id="{02BED898-4C90-3BE3-6135-1CB5A76E2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3" y="1779571"/>
            <a:ext cx="2112821" cy="2640490"/>
          </a:xfrm>
          <a:prstGeom prst="rect">
            <a:avLst/>
          </a:prstGeom>
        </p:spPr>
      </p:pic>
      <p:pic>
        <p:nvPicPr>
          <p:cNvPr id="9" name="Picture 8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FD8EB12A-C621-9CA1-FAE7-5D7119C20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557" y="3297356"/>
            <a:ext cx="1098647" cy="1122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This Course Matters for Graduate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737360"/>
            <a:ext cx="8424000" cy="4376995"/>
          </a:xfrm>
        </p:spPr>
        <p:txBody>
          <a:bodyPr/>
          <a:lstStyle/>
          <a:p>
            <a:r>
              <a:rPr dirty="0"/>
              <a:t>Machine Learning is now common in academic research</a:t>
            </a:r>
          </a:p>
          <a:p>
            <a:r>
              <a:rPr dirty="0"/>
              <a:t>Many theses use ML incorrectly</a:t>
            </a:r>
          </a:p>
          <a:p>
            <a:r>
              <a:rPr dirty="0"/>
              <a:t>Reviewers expect correct methodology</a:t>
            </a:r>
          </a:p>
          <a:p>
            <a:r>
              <a:rPr dirty="0"/>
              <a:t>This course focuses on research usage, not coding mastery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What This Course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Not advanced mathematics</a:t>
            </a:r>
          </a:p>
          <a:p>
            <a:r>
              <a:rPr dirty="0"/>
              <a:t>Not deep learning or AI engineering</a:t>
            </a:r>
          </a:p>
          <a:p>
            <a:r>
              <a:rPr dirty="0"/>
              <a:t>This course IS about using ML correctly in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allows computers to learn patterns from data</a:t>
            </a:r>
          </a:p>
          <a:p>
            <a:r>
              <a:rPr dirty="0"/>
              <a:t>and make predictions without being explicitly programmed.</a:t>
            </a:r>
          </a:p>
          <a:p>
            <a:r>
              <a:rPr dirty="0"/>
              <a:t>Data → Patterns →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Machine Learning vs Traditional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Traditional Programming:</a:t>
            </a:r>
          </a:p>
          <a:p>
            <a:r>
              <a:rPr dirty="0"/>
              <a:t>Rules + Data → Output</a:t>
            </a:r>
          </a:p>
          <a:p>
            <a:r>
              <a:rPr dirty="0"/>
              <a:t>Machine Learning:</a:t>
            </a:r>
          </a:p>
          <a:p>
            <a:r>
              <a:rPr dirty="0"/>
              <a:t>Data + Output → Model (learned rules)</a:t>
            </a:r>
          </a:p>
        </p:txBody>
      </p:sp>
      <p:pic>
        <p:nvPicPr>
          <p:cNvPr id="1026" name="Picture 2" descr="Supervised Machine Learning: All You Need to Know | Simplilearn">
            <a:extLst>
              <a:ext uri="{FF2B5EF4-FFF2-40B4-BE49-F238E27FC236}">
                <a16:creationId xmlns:a16="http://schemas.microsoft.com/office/drawing/2014/main" id="{E4BF7C9F-4209-37E4-9198-0070CBE6B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155" y="3895344"/>
            <a:ext cx="3933733" cy="237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Statistics:</a:t>
            </a:r>
          </a:p>
          <a:p>
            <a:pPr marL="0" indent="0">
              <a:buNone/>
            </a:pPr>
            <a:r>
              <a:rPr lang="th-TH" dirty="0"/>
              <a:t>• </a:t>
            </a:r>
            <a:r>
              <a:rPr dirty="0"/>
              <a:t>Focus on explanation</a:t>
            </a:r>
          </a:p>
          <a:p>
            <a:pPr marL="0" indent="0">
              <a:buNone/>
            </a:pPr>
            <a:r>
              <a:rPr dirty="0"/>
              <a:t>• Strong assumptions</a:t>
            </a:r>
          </a:p>
          <a:p>
            <a:endParaRPr dirty="0"/>
          </a:p>
          <a:p>
            <a:r>
              <a:rPr dirty="0"/>
              <a:t>Machine Learning:</a:t>
            </a:r>
          </a:p>
          <a:p>
            <a:pPr marL="0" indent="0">
              <a:buNone/>
            </a:pPr>
            <a:r>
              <a:rPr dirty="0"/>
              <a:t>• Focus on prediction</a:t>
            </a:r>
          </a:p>
          <a:p>
            <a:pPr marL="0" indent="0">
              <a:buNone/>
            </a:pPr>
            <a:r>
              <a:rPr dirty="0"/>
              <a:t>• Fewer assumptions</a:t>
            </a:r>
          </a:p>
          <a:p>
            <a:endParaRPr dirty="0"/>
          </a:p>
          <a:p>
            <a:r>
              <a:rPr dirty="0"/>
              <a:t>Both are valuable in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802DB-D3AD-D56F-873B-C37D30F1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ABA4-AD05-2BB8-2098-48452F06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A148-5ECC-6B8E-BC3C-5C6D0D34C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Key characteristics of Machine Learning</a:t>
            </a:r>
          </a:p>
          <a:p>
            <a:r>
              <a:rPr lang="en-US" dirty="0"/>
              <a:t>Requires </a:t>
            </a:r>
            <a:r>
              <a:rPr lang="en-US" b="1" dirty="0"/>
              <a:t>fewer strict assumptions</a:t>
            </a:r>
            <a:r>
              <a:rPr lang="en-US" dirty="0"/>
              <a:t> about data structure</a:t>
            </a:r>
          </a:p>
          <a:p>
            <a:r>
              <a:rPr lang="en-US" dirty="0"/>
              <a:t>Handles </a:t>
            </a:r>
            <a:r>
              <a:rPr lang="en-US" b="1" dirty="0"/>
              <a:t>complex and non-linear relationships</a:t>
            </a:r>
            <a:r>
              <a:rPr lang="en-US" dirty="0"/>
              <a:t> well</a:t>
            </a:r>
          </a:p>
          <a:p>
            <a:r>
              <a:rPr lang="en-US" b="1" dirty="0"/>
              <a:t>Scales effectively</a:t>
            </a:r>
            <a:r>
              <a:rPr lang="en-US" dirty="0"/>
              <a:t> to large datasets</a:t>
            </a:r>
          </a:p>
          <a:p>
            <a:r>
              <a:rPr lang="en-US" dirty="0"/>
              <a:t>Makes it easy to </a:t>
            </a:r>
            <a:r>
              <a:rPr lang="en-US" b="1" dirty="0"/>
              <a:t>compare multiple models</a:t>
            </a:r>
            <a:r>
              <a:rPr lang="en-US" dirty="0"/>
              <a:t> based on performance</a:t>
            </a:r>
          </a:p>
          <a:p>
            <a:r>
              <a:rPr lang="en-US" dirty="0"/>
              <a:t>👉 This is </a:t>
            </a:r>
            <a:r>
              <a:rPr lang="en-US" b="1" dirty="0"/>
              <a:t>not because statistics cannot predict</a:t>
            </a:r>
            <a:br>
              <a:rPr lang="en-US" dirty="0"/>
            </a:br>
            <a:r>
              <a:rPr lang="en-US" dirty="0"/>
              <a:t>👉 but because </a:t>
            </a:r>
            <a:r>
              <a:rPr lang="en-US" b="1" dirty="0"/>
              <a:t>machine learning emphasizes a different objective</a:t>
            </a:r>
            <a:endParaRPr lang="en-US" dirty="0"/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35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9494-B9AC-7D64-FF1A-45B6A422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46CA-A14E-00AD-1B9B-AFA731BE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E48A1-A752-B7F1-6038-C344FCD85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Different Thinking Order: Statistics vs Machine Learning</a:t>
            </a:r>
          </a:p>
          <a:p>
            <a:r>
              <a:rPr lang="en-US" b="1" dirty="0"/>
              <a:t>Statistics (traditional approach)</a:t>
            </a:r>
          </a:p>
          <a:p>
            <a:pPr lvl="1"/>
            <a:r>
              <a:rPr lang="en-US" b="1" dirty="0"/>
              <a:t>Theory → Model → Test whether the theory holds</a:t>
            </a:r>
            <a:endParaRPr lang="en-US" dirty="0"/>
          </a:p>
          <a:p>
            <a:pPr lvl="1"/>
            <a:r>
              <a:rPr lang="en-US" dirty="0"/>
              <a:t>Starts from hypotheses or prior knowledge</a:t>
            </a:r>
          </a:p>
          <a:p>
            <a:pPr lvl="1"/>
            <a:r>
              <a:rPr lang="en-US" dirty="0"/>
              <a:t>Focuses on explanation and inference</a:t>
            </a:r>
          </a:p>
          <a:p>
            <a:pPr lvl="1"/>
            <a:r>
              <a:rPr lang="en-US" dirty="0"/>
              <a:t>Prediction is often secondary</a:t>
            </a:r>
          </a:p>
        </p:txBody>
      </p:sp>
    </p:spTree>
    <p:extLst>
      <p:ext uri="{BB962C8B-B14F-4D97-AF65-F5344CB8AC3E}">
        <p14:creationId xmlns:p14="http://schemas.microsoft.com/office/powerpoint/2010/main" val="84233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C846-1F43-C68A-8A3F-9161F59F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C7FF-68E2-D0D8-8327-61FB6FE9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40BC-8831-2989-BD8B-14215CD06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Machine Learning</a:t>
            </a:r>
          </a:p>
          <a:p>
            <a:pPr lvl="1"/>
            <a:r>
              <a:rPr lang="en-US" b="1" dirty="0"/>
              <a:t>Data → Model learns patterns → Evaluate prediction performance</a:t>
            </a:r>
            <a:endParaRPr lang="en-US" dirty="0"/>
          </a:p>
          <a:p>
            <a:pPr lvl="1"/>
            <a:r>
              <a:rPr lang="en-US" dirty="0"/>
              <a:t>Starts from data</a:t>
            </a:r>
          </a:p>
          <a:p>
            <a:pPr lvl="1"/>
            <a:r>
              <a:rPr lang="en-US" dirty="0"/>
              <a:t>Focuses on predictive accuracy and generalization</a:t>
            </a:r>
          </a:p>
          <a:p>
            <a:pPr lvl="1"/>
            <a:r>
              <a:rPr lang="en-US" dirty="0"/>
              <a:t>Explanation may come later (or be partial)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59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A1A3-B7EB-840C-3DCA-18BB4B2A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8E10F-3165-16F4-4916-0227A586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5196AB-CF1E-A056-B25D-07E12EB59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42" y="767940"/>
            <a:ext cx="8424000" cy="531546"/>
          </a:xfrm>
        </p:spPr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198D94-ED3C-5025-129A-51CAF324B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561380"/>
            <a:ext cx="8424000" cy="4552975"/>
          </a:xfrm>
        </p:spPr>
        <p:txBody>
          <a:bodyPr>
            <a:normAutofit fontScale="70000" lnSpcReduction="20000"/>
          </a:bodyPr>
          <a:lstStyle/>
          <a:p>
            <a:r>
              <a:rPr sz="2200" b="1" dirty="0"/>
              <a:t>Statistics</a:t>
            </a:r>
            <a:r>
              <a:rPr lang="th-TH" sz="2200" b="1" dirty="0"/>
              <a:t> </a:t>
            </a:r>
            <a:r>
              <a:rPr lang="en-US" sz="2200" b="1" dirty="0"/>
              <a:t>(</a:t>
            </a:r>
            <a:r>
              <a:rPr lang="en-US" sz="2200" b="1" dirty="0">
                <a:highlight>
                  <a:srgbClr val="FFFF00"/>
                </a:highlight>
              </a:rPr>
              <a:t>Example</a:t>
            </a:r>
            <a:r>
              <a:rPr lang="en-US" sz="2200" b="1" dirty="0"/>
              <a:t>) </a:t>
            </a:r>
            <a:r>
              <a:rPr sz="2200" b="1" dirty="0"/>
              <a:t>:</a:t>
            </a:r>
            <a:endParaRPr lang="th-TH" sz="2200" b="1" dirty="0"/>
          </a:p>
          <a:p>
            <a:r>
              <a:rPr lang="en-US" sz="2200" b="1" dirty="0"/>
              <a:t>Question:</a:t>
            </a:r>
            <a:br>
              <a:rPr lang="en-US" sz="2200" dirty="0"/>
            </a:br>
            <a:r>
              <a:rPr lang="en-US" sz="2200" dirty="0"/>
              <a:t>“Does study time affect exam score?”</a:t>
            </a:r>
          </a:p>
          <a:p>
            <a:r>
              <a:rPr lang="en-US" sz="2200" b="1" dirty="0"/>
              <a:t>What statistics does: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Collect data: study hours + exam scores</a:t>
            </a:r>
          </a:p>
          <a:p>
            <a:pPr marL="0" indent="0">
              <a:buNone/>
            </a:pPr>
            <a:r>
              <a:rPr lang="en-US" sz="2200" dirty="0"/>
              <a:t>	Build a model (e.g., linear regression)</a:t>
            </a:r>
          </a:p>
          <a:p>
            <a:r>
              <a:rPr lang="en-US" sz="2200" b="1" dirty="0"/>
              <a:t>Answer</a:t>
            </a:r>
            <a:r>
              <a:rPr lang="en-US" sz="2200" dirty="0"/>
              <a:t>:</a:t>
            </a:r>
          </a:p>
          <a:p>
            <a:pPr marL="360363" lvl="1" indent="0">
              <a:buNone/>
            </a:pPr>
            <a:r>
              <a:rPr lang="en-US" sz="2200" i="1" dirty="0"/>
              <a:t>	How much does one extra hour of study increase the score?</a:t>
            </a:r>
            <a:endParaRPr lang="en-US" sz="2200" dirty="0"/>
          </a:p>
          <a:p>
            <a:pPr marL="360363" lvl="1" indent="0">
              <a:buNone/>
            </a:pPr>
            <a:r>
              <a:rPr lang="en-US" sz="2200" i="1" dirty="0"/>
              <a:t>	Is this relationship statistically significant?</a:t>
            </a:r>
            <a:endParaRPr lang="en-US" sz="2200" dirty="0"/>
          </a:p>
          <a:p>
            <a:r>
              <a:rPr lang="en-US" sz="2200" b="1" dirty="0"/>
              <a:t>Goal: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	Explain the relationship</a:t>
            </a:r>
            <a:r>
              <a:rPr lang="en-US" sz="2200" dirty="0"/>
              <a:t> between variables.</a:t>
            </a:r>
          </a:p>
          <a:p>
            <a:pPr marL="0" indent="0">
              <a:buNone/>
            </a:pPr>
            <a:r>
              <a:rPr lang="en-US" sz="2200" dirty="0"/>
              <a:t>	“Statistics is like asking </a:t>
            </a:r>
            <a:r>
              <a:rPr lang="en-US" sz="2200" i="1" dirty="0"/>
              <a:t>why</a:t>
            </a:r>
            <a:r>
              <a:rPr lang="en-US" sz="2200" dirty="0"/>
              <a:t> and </a:t>
            </a:r>
            <a:r>
              <a:rPr lang="en-US" sz="2200" i="1" dirty="0"/>
              <a:t>how much</a:t>
            </a:r>
            <a:r>
              <a:rPr lang="en-US" sz="2200" dirty="0"/>
              <a:t>.”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0792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84877-B7B0-B28D-9F4E-A646BA76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B769A1-C644-BB48-DA08-85E9A857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42" y="767940"/>
            <a:ext cx="8424000" cy="531546"/>
          </a:xfrm>
        </p:spPr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A27E28-DEED-3142-AC81-B721CB9AE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561380"/>
            <a:ext cx="8424000" cy="4552975"/>
          </a:xfrm>
        </p:spPr>
        <p:txBody>
          <a:bodyPr>
            <a:noAutofit/>
          </a:bodyPr>
          <a:lstStyle/>
          <a:p>
            <a:r>
              <a:rPr lang="en-US" sz="1400" b="1" dirty="0"/>
              <a:t>Machine Learning (</a:t>
            </a:r>
            <a:r>
              <a:rPr lang="en-US" sz="1400" b="1" dirty="0">
                <a:highlight>
                  <a:srgbClr val="FFFF00"/>
                </a:highlight>
              </a:rPr>
              <a:t>Example</a:t>
            </a:r>
            <a:r>
              <a:rPr lang="en-US" sz="1400" b="1" dirty="0"/>
              <a:t>)</a:t>
            </a:r>
            <a:r>
              <a:rPr sz="1400" dirty="0"/>
              <a:t>:</a:t>
            </a:r>
          </a:p>
          <a:p>
            <a:r>
              <a:rPr lang="en-US" sz="1400" b="1" dirty="0"/>
              <a:t>Question:</a:t>
            </a:r>
            <a:br>
              <a:rPr lang="en-US" sz="1400" dirty="0"/>
            </a:br>
            <a:r>
              <a:rPr lang="en-US" sz="1400" dirty="0"/>
              <a:t>“Will this student pass the exam?”</a:t>
            </a:r>
          </a:p>
          <a:p>
            <a:r>
              <a:rPr lang="en-US" sz="1400" b="1" dirty="0"/>
              <a:t>What machine learning does:</a:t>
            </a:r>
            <a:endParaRPr lang="en-US" sz="1400" dirty="0"/>
          </a:p>
          <a:p>
            <a:r>
              <a:rPr lang="en-US" sz="1400" dirty="0"/>
              <a:t>Use many inputs:</a:t>
            </a:r>
          </a:p>
          <a:p>
            <a:pPr lvl="1"/>
            <a:r>
              <a:rPr lang="en-US" sz="1400" dirty="0"/>
              <a:t>Study time</a:t>
            </a:r>
          </a:p>
          <a:p>
            <a:pPr lvl="1"/>
            <a:r>
              <a:rPr lang="en-US" sz="1400" dirty="0"/>
              <a:t>Attendance</a:t>
            </a:r>
          </a:p>
          <a:p>
            <a:pPr lvl="1"/>
            <a:r>
              <a:rPr lang="en-US" sz="1400" dirty="0"/>
              <a:t>Past grades</a:t>
            </a:r>
          </a:p>
          <a:p>
            <a:pPr lvl="1"/>
            <a:r>
              <a:rPr lang="en-US" sz="1400" dirty="0"/>
              <a:t>Assignment submission</a:t>
            </a:r>
          </a:p>
          <a:p>
            <a:r>
              <a:rPr lang="en-US" sz="1400" dirty="0"/>
              <a:t>Train a model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6A2788-6F56-8C7E-895C-BD339DF81065}"/>
              </a:ext>
            </a:extLst>
          </p:cNvPr>
          <p:cNvSpPr txBox="1">
            <a:spLocks/>
          </p:cNvSpPr>
          <p:nvPr/>
        </p:nvSpPr>
        <p:spPr>
          <a:xfrm>
            <a:off x="4063320" y="1994806"/>
            <a:ext cx="5373288" cy="4552975"/>
          </a:xfrm>
          <a:prstGeom prst="rect">
            <a:avLst/>
          </a:prstGeom>
        </p:spPr>
        <p:txBody>
          <a:bodyPr vert="horz">
            <a:noAutofit/>
          </a:bodyPr>
          <a:lstStyle>
            <a:lvl1pPr marL="342900" indent="-342900" algn="l" rtl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58775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69875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5225" indent="-273050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1925" indent="-261938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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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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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1400" b="1" dirty="0"/>
              <a:t>Output</a:t>
            </a:r>
            <a:r>
              <a:rPr lang="en-US" sz="1400" dirty="0"/>
              <a:t>:</a:t>
            </a:r>
          </a:p>
          <a:p>
            <a:pPr lvl="1" defTabSz="914400"/>
            <a:r>
              <a:rPr lang="en-US" sz="1400" i="1" dirty="0"/>
              <a:t>Pass or Fail</a:t>
            </a:r>
            <a:endParaRPr lang="en-US" sz="1400" dirty="0"/>
          </a:p>
          <a:p>
            <a:pPr lvl="1" defTabSz="914400"/>
            <a:r>
              <a:rPr lang="en-US" sz="1400" i="1" dirty="0"/>
              <a:t>Probability of passing</a:t>
            </a:r>
            <a:endParaRPr lang="en-US" sz="1400" dirty="0"/>
          </a:p>
          <a:p>
            <a:pPr defTabSz="914400"/>
            <a:r>
              <a:rPr lang="en-US" sz="1400" dirty="0"/>
              <a:t>📌 </a:t>
            </a:r>
            <a:r>
              <a:rPr lang="en-US" sz="1400" b="1" dirty="0"/>
              <a:t>Goal:</a:t>
            </a:r>
            <a:endParaRPr lang="en-US" sz="1400" dirty="0"/>
          </a:p>
          <a:p>
            <a:pPr defTabSz="914400"/>
            <a:r>
              <a:rPr lang="en-US" sz="1400" i="1" dirty="0"/>
              <a:t>Predict the outcome</a:t>
            </a:r>
            <a:r>
              <a:rPr lang="en-US" sz="1400" dirty="0"/>
              <a:t>, even if the relationship is complex.</a:t>
            </a:r>
          </a:p>
          <a:p>
            <a:pPr defTabSz="914400"/>
            <a:r>
              <a:rPr lang="en-US" sz="1400" dirty="0"/>
              <a:t>“Machine learning is like asking </a:t>
            </a:r>
            <a:r>
              <a:rPr lang="en-US" sz="1400" i="1" dirty="0"/>
              <a:t>what will happen next</a:t>
            </a:r>
            <a:r>
              <a:rPr lang="en-US" sz="14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11170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6382-23F6-74C0-390C-1045A438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32FFF-C82E-FB15-8FE2-D3CA8F9F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84D372-7E68-E63E-86BF-A07017E9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42" y="767940"/>
            <a:ext cx="8424000" cy="531546"/>
          </a:xfrm>
        </p:spPr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763AEA-3C35-BD77-8A36-352594016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561380"/>
            <a:ext cx="8424000" cy="4552975"/>
          </a:xfrm>
        </p:spPr>
        <p:txBody>
          <a:bodyPr>
            <a:normAutofit fontScale="77500" lnSpcReduction="20000"/>
          </a:bodyPr>
          <a:lstStyle/>
          <a:p>
            <a:r>
              <a:rPr lang="en-US" sz="2200" b="1" dirty="0">
                <a:highlight>
                  <a:srgbClr val="FFFF00"/>
                </a:highlight>
              </a:rPr>
              <a:t>Another Example</a:t>
            </a:r>
            <a:endParaRPr lang="th-TH" sz="2200" b="1" dirty="0"/>
          </a:p>
          <a:p>
            <a:r>
              <a:rPr lang="en-US" b="1" dirty="0"/>
              <a:t>Statistics View</a:t>
            </a:r>
          </a:p>
          <a:p>
            <a:r>
              <a:rPr lang="en-US" dirty="0"/>
              <a:t>“Which factors are significantly associated with customer churn?”</a:t>
            </a:r>
          </a:p>
          <a:p>
            <a:r>
              <a:rPr lang="en-US" dirty="0"/>
              <a:t>Focus on:</a:t>
            </a:r>
          </a:p>
          <a:p>
            <a:pPr lvl="1"/>
            <a:r>
              <a:rPr lang="en-US" dirty="0"/>
              <a:t>Coefficients </a:t>
            </a:r>
          </a:p>
          <a:p>
            <a:pPr lvl="2"/>
            <a:r>
              <a:rPr lang="en-US" dirty="0"/>
              <a:t>The </a:t>
            </a:r>
            <a:r>
              <a:rPr lang="en-US" b="1" dirty="0"/>
              <a:t>coefficients</a:t>
            </a:r>
            <a:r>
              <a:rPr lang="en-US" dirty="0"/>
              <a:t> tell us the </a:t>
            </a:r>
            <a:r>
              <a:rPr lang="en-US" b="1" dirty="0"/>
              <a:t>direction</a:t>
            </a:r>
            <a:r>
              <a:rPr lang="en-US" dirty="0"/>
              <a:t> of the relationship (increase or decrease)</a:t>
            </a:r>
          </a:p>
          <a:p>
            <a:pPr lvl="2"/>
            <a:r>
              <a:rPr lang="en-US" dirty="0"/>
              <a:t>Customers who have stayed longer are </a:t>
            </a:r>
            <a:r>
              <a:rPr lang="en-US" b="1" dirty="0"/>
              <a:t>less likely</a:t>
            </a:r>
            <a:r>
              <a:rPr lang="en-US" dirty="0"/>
              <a:t> to churn</a:t>
            </a:r>
          </a:p>
          <a:p>
            <a:pPr lvl="1"/>
            <a:r>
              <a:rPr lang="en-US" dirty="0"/>
              <a:t>p-values</a:t>
            </a:r>
          </a:p>
          <a:p>
            <a:pPr lvl="2"/>
            <a:r>
              <a:rPr lang="en-US" dirty="0"/>
              <a:t>he </a:t>
            </a:r>
            <a:r>
              <a:rPr lang="en-US" b="1" dirty="0"/>
              <a:t>p-values</a:t>
            </a:r>
            <a:r>
              <a:rPr lang="en-US" dirty="0"/>
              <a:t> tell us whether the relationship is </a:t>
            </a:r>
            <a:r>
              <a:rPr lang="en-US" b="1" dirty="0"/>
              <a:t>statistically significant</a:t>
            </a:r>
          </a:p>
          <a:p>
            <a:pPr lvl="2"/>
            <a:r>
              <a:rPr lang="en-US" dirty="0"/>
              <a:t>Higher monthly fees are </a:t>
            </a:r>
            <a:r>
              <a:rPr lang="en-US" b="1" dirty="0"/>
              <a:t>associated with higher churn</a:t>
            </a:r>
            <a:endParaRPr lang="en-US" dirty="0"/>
          </a:p>
          <a:p>
            <a:pPr lvl="1"/>
            <a:r>
              <a:rPr lang="en-US" dirty="0"/>
              <a:t>Interpretation</a:t>
            </a:r>
          </a:p>
          <a:p>
            <a:pPr lvl="2"/>
            <a:r>
              <a:rPr lang="en-US" dirty="0"/>
              <a:t>The goal is to </a:t>
            </a:r>
            <a:r>
              <a:rPr lang="en-US" b="1" dirty="0"/>
              <a:t>explain which factors matter</a:t>
            </a:r>
            <a:r>
              <a:rPr lang="en-US" dirty="0"/>
              <a:t>, not to predict individual behavior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223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E63B-8D97-49B8-EFA4-F6EF9F9D5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F3271-2AA8-4E10-4589-326FCE4F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B230F3-B15B-2508-2822-7B5FEDB4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42" y="767940"/>
            <a:ext cx="8424000" cy="531546"/>
          </a:xfrm>
        </p:spPr>
        <p:txBody>
          <a:bodyPr>
            <a:normAutofit fontScale="90000"/>
          </a:bodyPr>
          <a:lstStyle/>
          <a:p>
            <a:r>
              <a:rPr dirty="0"/>
              <a:t>Machine Learning vs Statistics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D18952-0CF6-5266-22B9-F1656D7C9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561380"/>
            <a:ext cx="8424000" cy="4552975"/>
          </a:xfrm>
        </p:spPr>
        <p:txBody>
          <a:bodyPr>
            <a:normAutofit/>
          </a:bodyPr>
          <a:lstStyle/>
          <a:p>
            <a:r>
              <a:rPr lang="en-US" sz="1400" b="1" dirty="0"/>
              <a:t>Machine Learning View</a:t>
            </a:r>
          </a:p>
          <a:p>
            <a:r>
              <a:rPr lang="en-US" sz="1400" dirty="0"/>
              <a:t>“Will this customer churn next month?”</a:t>
            </a:r>
          </a:p>
          <a:p>
            <a:r>
              <a:rPr lang="en-US" sz="1400" dirty="0"/>
              <a:t>Focus on:</a:t>
            </a:r>
          </a:p>
          <a:p>
            <a:pPr lvl="1"/>
            <a:r>
              <a:rPr lang="en-US" sz="1400" dirty="0"/>
              <a:t>Prediction accuracy</a:t>
            </a:r>
          </a:p>
          <a:p>
            <a:pPr lvl="1"/>
            <a:r>
              <a:rPr lang="en-US" sz="1400" dirty="0"/>
              <a:t>Validation</a:t>
            </a:r>
          </a:p>
          <a:p>
            <a:pPr lvl="1"/>
            <a:r>
              <a:rPr lang="en-US" sz="1400" dirty="0"/>
              <a:t>Generalization</a:t>
            </a:r>
          </a:p>
          <a:p>
            <a:r>
              <a:rPr lang="en-US" sz="1400" dirty="0"/>
              <a:t>Same data — </a:t>
            </a:r>
            <a:r>
              <a:rPr lang="en-US" sz="1400" b="1" dirty="0"/>
              <a:t>different purpose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endParaRPr lang="en-US" sz="1400" dirty="0"/>
          </a:p>
          <a:p>
            <a:endParaRPr dirty="0"/>
          </a:p>
        </p:txBody>
      </p:sp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8071018-C31F-F093-70FC-7AD0C082B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5" y="4603953"/>
            <a:ext cx="3781953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2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We Use the Customer Churn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Real-world and easy to understand</a:t>
            </a:r>
          </a:p>
          <a:p>
            <a:r>
              <a:rPr sz="1600" dirty="0"/>
              <a:t>Binary outcome (Yes / No)</a:t>
            </a:r>
          </a:p>
          <a:p>
            <a:r>
              <a:rPr sz="1600" dirty="0"/>
              <a:t>Common structure in many research domains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6EB15-FF3B-CE92-D8B0-A136D6EB8F4C}"/>
              </a:ext>
            </a:extLst>
          </p:cNvPr>
          <p:cNvSpPr txBox="1"/>
          <p:nvPr/>
        </p:nvSpPr>
        <p:spPr>
          <a:xfrm>
            <a:off x="685800" y="300982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https://www.kaggle.com/datasets/blastchar/telco-customer-churn?resource=download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779C6-D41E-DE89-0587-065A7B13844F}"/>
              </a:ext>
            </a:extLst>
          </p:cNvPr>
          <p:cNvSpPr txBox="1"/>
          <p:nvPr/>
        </p:nvSpPr>
        <p:spPr>
          <a:xfrm>
            <a:off x="685800" y="3753925"/>
            <a:ext cx="7104888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200"/>
              </a:spcAft>
              <a:buNone/>
            </a:pPr>
            <a:r>
              <a:rPr lang="en-US" sz="1400" b="1" i="0" dirty="0">
                <a:solidFill>
                  <a:srgbClr val="3C4043"/>
                </a:solidFill>
                <a:effectLst/>
                <a:latin typeface="inherit"/>
              </a:rPr>
              <a:t>The data set includes information about:</a:t>
            </a:r>
            <a:endParaRPr lang="en-US" sz="1400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C4043"/>
                </a:solidFill>
                <a:effectLst/>
                <a:latin typeface="inherit"/>
              </a:rPr>
              <a:t>Customers who left within the last month – the column is called Churn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C4043"/>
                </a:solidFill>
                <a:effectLst/>
                <a:latin typeface="inherit"/>
              </a:rPr>
              <a:t>Services that each customer has signed up for – phone, multiple lines, internet, online security, online backup, device protection, tech support, and streaming TV and movies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C4043"/>
                </a:solidFill>
                <a:effectLst/>
                <a:latin typeface="inherit"/>
              </a:rPr>
              <a:t>Customer account information – how long they’ve been a customer, contract, payment method, paperless billing, monthly charges, and total charges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C4043"/>
                </a:solidFill>
                <a:effectLst/>
                <a:latin typeface="inherit"/>
              </a:rPr>
              <a:t>Demographic info about customers – gender, age range, and if they have partners and dependents</a:t>
            </a:r>
          </a:p>
        </p:txBody>
      </p:sp>
      <p:pic>
        <p:nvPicPr>
          <p:cNvPr id="9" name="Picture 8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51EBB769-FFAA-988B-A79D-E2249400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827" y="1657388"/>
            <a:ext cx="1957661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3DD4-254E-EEF9-3F51-1797F984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271F98-7370-A4FE-28A1-E1FFF9A9F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1121652"/>
            <a:ext cx="5532120" cy="2426772"/>
          </a:xfrm>
          <a:prstGeom prst="rect">
            <a:avLst/>
          </a:prstGeom>
        </p:spPr>
      </p:pic>
      <p:pic>
        <p:nvPicPr>
          <p:cNvPr id="8" name="Picture 7" descr="A screenshot of a white sheet&#10;&#10;AI-generated content may be incorrect.">
            <a:extLst>
              <a:ext uri="{FF2B5EF4-FFF2-40B4-BE49-F238E27FC236}">
                <a16:creationId xmlns:a16="http://schemas.microsoft.com/office/drawing/2014/main" id="{89313A79-2A5B-9E58-7CFC-9DDC056EF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3777024"/>
            <a:ext cx="5596128" cy="24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61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Research Question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Can customer demographic and service information</a:t>
            </a:r>
          </a:p>
          <a:p>
            <a:pPr marL="0" indent="0">
              <a:buNone/>
            </a:pPr>
            <a:r>
              <a:rPr dirty="0">
                <a:highlight>
                  <a:srgbClr val="FFFF00"/>
                </a:highlight>
              </a:rPr>
              <a:t>be used to predict customer churn?</a:t>
            </a:r>
          </a:p>
          <a:p>
            <a:pPr marL="0" indent="0">
              <a:buNone/>
            </a:pPr>
            <a:r>
              <a:rPr lang="en-US" dirty="0"/>
              <a:t>P.S. </a:t>
            </a:r>
            <a:r>
              <a:rPr dirty="0"/>
              <a:t>This is a prediction problem, not a causal study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Understanding the Target Variable (y)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= Yes → customer left the service</a:t>
            </a:r>
          </a:p>
          <a:p>
            <a:r>
              <a:t>Churn = No → customer stayed</a:t>
            </a:r>
          </a:p>
          <a:p>
            <a:endParaRPr/>
          </a:p>
          <a:p>
            <a:r>
              <a:t>This is an observed outcome from historical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Understanding the Input Variables 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Demographic information</a:t>
            </a:r>
          </a:p>
          <a:p>
            <a:r>
              <a:t>Service usage information</a:t>
            </a:r>
          </a:p>
          <a:p>
            <a:r>
              <a:t>Contract and billing information</a:t>
            </a:r>
          </a:p>
          <a:p>
            <a:endParaRPr/>
          </a:p>
          <a:p>
            <a:r>
              <a:t>All inputs exist before churn happens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Dataset Size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About 7,000 records</a:t>
            </a:r>
          </a:p>
          <a:p>
            <a:r>
              <a:rPr dirty="0"/>
              <a:t>Around 20 variables</a:t>
            </a:r>
          </a:p>
          <a:p>
            <a:r>
              <a:rPr dirty="0"/>
              <a:t>Mix of numerical and categorical data</a:t>
            </a:r>
          </a:p>
          <a:p>
            <a:r>
              <a:rPr dirty="0"/>
              <a:t>Large enough for ML, small enough to understand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Mapping Dataset to ML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 (X): customer attributes</a:t>
            </a:r>
          </a:p>
          <a:p>
            <a:r>
              <a:t>Target (y): churn</a:t>
            </a:r>
          </a:p>
          <a:p>
            <a:r>
              <a:t>One row = one customer</a:t>
            </a:r>
          </a:p>
          <a:p>
            <a:r>
              <a:t>Prediction = probability of churn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the Model Can and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model </a:t>
            </a:r>
            <a:r>
              <a:rPr u="sng" dirty="0"/>
              <a:t>can</a:t>
            </a:r>
            <a:r>
              <a:rPr dirty="0"/>
              <a:t> learn patterns from past data</a:t>
            </a:r>
          </a:p>
          <a:p>
            <a:r>
              <a:rPr dirty="0"/>
              <a:t>The model </a:t>
            </a:r>
            <a:r>
              <a:rPr u="sng" dirty="0"/>
              <a:t>cannot</a:t>
            </a:r>
            <a:r>
              <a:rPr dirty="0"/>
              <a:t> explain reasons or</a:t>
            </a:r>
            <a:r>
              <a:rPr lang="th-TH" dirty="0"/>
              <a:t> </a:t>
            </a:r>
            <a:r>
              <a:rPr lang="en-US" dirty="0"/>
              <a:t>cause</a:t>
            </a:r>
            <a:endParaRPr dirty="0"/>
          </a:p>
          <a:p>
            <a:r>
              <a:rPr dirty="0"/>
              <a:t>Predictions are </a:t>
            </a:r>
            <a:r>
              <a:rPr u="sng" dirty="0"/>
              <a:t>probabilities</a:t>
            </a:r>
            <a:r>
              <a:rPr dirty="0"/>
              <a:t>, not certainties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Logistic Regression Is Our First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Suitable for binary outcomes</a:t>
            </a:r>
          </a:p>
          <a:p>
            <a:r>
              <a:rPr dirty="0"/>
              <a:t>Interpretable</a:t>
            </a:r>
          </a:p>
          <a:p>
            <a:r>
              <a:rPr dirty="0"/>
              <a:t>Widely accepted in academic research</a:t>
            </a:r>
          </a:p>
          <a:p>
            <a:r>
              <a:rPr dirty="0"/>
              <a:t>Strong baseline model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Results Should We Expect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 around 75–82%</a:t>
            </a:r>
          </a:p>
          <a:p>
            <a:r>
              <a:rPr dirty="0"/>
              <a:t>Some errors are normal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Research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Training and testing on the same data</a:t>
            </a:r>
          </a:p>
          <a:p>
            <a:r>
              <a:rPr dirty="0"/>
              <a:t>Overclaiming results</a:t>
            </a:r>
          </a:p>
          <a:p>
            <a:r>
              <a:rPr dirty="0"/>
              <a:t>Ignoring limitations</a:t>
            </a:r>
          </a:p>
          <a:p>
            <a:r>
              <a:rPr dirty="0"/>
              <a:t>Treating ML as causal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Transition to Hands-On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Now that we understand the dataset and research context,</a:t>
            </a:r>
          </a:p>
          <a:p>
            <a:r>
              <a:rPr lang="en-US" dirty="0"/>
              <a:t>We</a:t>
            </a:r>
            <a:r>
              <a:rPr dirty="0"/>
              <a:t> are ready to move to Google </a:t>
            </a:r>
            <a:r>
              <a:rPr dirty="0" err="1"/>
              <a:t>Colab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Next steps:</a:t>
            </a:r>
          </a:p>
          <a:p>
            <a:pPr marL="0" indent="0">
              <a:buNone/>
            </a:pPr>
            <a:r>
              <a:rPr dirty="0"/>
              <a:t>1. Load the dataset</a:t>
            </a:r>
          </a:p>
          <a:p>
            <a:pPr marL="0" indent="0">
              <a:buNone/>
            </a:pPr>
            <a:r>
              <a:rPr dirty="0"/>
              <a:t>2. Define X and y</a:t>
            </a:r>
          </a:p>
          <a:p>
            <a:pPr marL="0" indent="0">
              <a:buNone/>
            </a:pPr>
            <a:r>
              <a:rPr dirty="0"/>
              <a:t>3. Train the first model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neral Content">
  <a:themeElements>
    <a:clrScheme name="Pcubed">
      <a:dk1>
        <a:srgbClr val="4F4749"/>
      </a:dk1>
      <a:lt1>
        <a:srgbClr val="FFFFFF"/>
      </a:lt1>
      <a:dk2>
        <a:srgbClr val="919195"/>
      </a:dk2>
      <a:lt2>
        <a:srgbClr val="F2F2F2"/>
      </a:lt2>
      <a:accent1>
        <a:srgbClr val="820024"/>
      </a:accent1>
      <a:accent2>
        <a:srgbClr val="CC003A"/>
      </a:accent2>
      <a:accent3>
        <a:srgbClr val="FFC000"/>
      </a:accent3>
      <a:accent4>
        <a:srgbClr val="9CDB68"/>
      </a:accent4>
      <a:accent5>
        <a:srgbClr val="0066CC"/>
      </a:accent5>
      <a:accent6>
        <a:srgbClr val="7030A0"/>
      </a:accent6>
      <a:hlink>
        <a:srgbClr val="820024"/>
      </a:hlink>
      <a:folHlink>
        <a:srgbClr val="82002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cubed">
    <a:dk1>
      <a:srgbClr val="4F4749"/>
    </a:dk1>
    <a:lt1>
      <a:srgbClr val="FFFFFF"/>
    </a:lt1>
    <a:dk2>
      <a:srgbClr val="919195"/>
    </a:dk2>
    <a:lt2>
      <a:srgbClr val="F2F2F2"/>
    </a:lt2>
    <a:accent1>
      <a:srgbClr val="820024"/>
    </a:accent1>
    <a:accent2>
      <a:srgbClr val="CC003A"/>
    </a:accent2>
    <a:accent3>
      <a:srgbClr val="FFC000"/>
    </a:accent3>
    <a:accent4>
      <a:srgbClr val="9CDB68"/>
    </a:accent4>
    <a:accent5>
      <a:srgbClr val="0066CC"/>
    </a:accent5>
    <a:accent6>
      <a:srgbClr val="7030A0"/>
    </a:accent6>
    <a:hlink>
      <a:srgbClr val="820024"/>
    </a:hlink>
    <a:folHlink>
      <a:srgbClr val="82002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964</Words>
  <Application>Microsoft Office PowerPoint</Application>
  <PresentationFormat>On-screen Show (4:3)</PresentationFormat>
  <Paragraphs>168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Courier New</vt:lpstr>
      <vt:lpstr>inherit</vt:lpstr>
      <vt:lpstr>Inter</vt:lpstr>
      <vt:lpstr>Wingdings</vt:lpstr>
      <vt:lpstr>Wingdings 2</vt:lpstr>
      <vt:lpstr>General Content</vt:lpstr>
      <vt:lpstr>Machine Learning in Practice for Research – Session 1</vt:lpstr>
      <vt:lpstr>Why This Course Matters for Graduate Research</vt:lpstr>
      <vt:lpstr>What This Course Is NOT</vt:lpstr>
      <vt:lpstr>What Is Machine Learning?</vt:lpstr>
      <vt:lpstr>Machine Learning vs Traditional Programming</vt:lpstr>
      <vt:lpstr>Machine Learning vs Statistics</vt:lpstr>
      <vt:lpstr>Machine Learning vs Statistics</vt:lpstr>
      <vt:lpstr>Machine Learning vs Statistics</vt:lpstr>
      <vt:lpstr>Machine Learning vs Statistics</vt:lpstr>
      <vt:lpstr>Machine Learning vs Statistics</vt:lpstr>
      <vt:lpstr>Machine Learning vs Statistics</vt:lpstr>
      <vt:lpstr>Machine Learning vs Statistics</vt:lpstr>
      <vt:lpstr>Machine Learning vs Statistics</vt:lpstr>
      <vt:lpstr>Why We Use the Customer Churn Dataset</vt:lpstr>
      <vt:lpstr>PowerPoint Presentation</vt:lpstr>
      <vt:lpstr>Research Question Example</vt:lpstr>
      <vt:lpstr>Understanding the Target Variable (y)</vt:lpstr>
      <vt:lpstr>Understanding the Input Variables (X)</vt:lpstr>
      <vt:lpstr>Dataset Size and Structure</vt:lpstr>
      <vt:lpstr>Mapping Dataset to ML Concepts</vt:lpstr>
      <vt:lpstr>What the Model Can and Cannot Do</vt:lpstr>
      <vt:lpstr>Why Logistic Regression Is Our First Model</vt:lpstr>
      <vt:lpstr>What Results Should We Expect</vt:lpstr>
      <vt:lpstr>Common Research Mistakes to Avoid</vt:lpstr>
      <vt:lpstr>Transition to Hands-On Session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Rattapol Kasemrat</cp:lastModifiedBy>
  <cp:revision>11</cp:revision>
  <dcterms:created xsi:type="dcterms:W3CDTF">2013-01-27T09:14:16Z</dcterms:created>
  <dcterms:modified xsi:type="dcterms:W3CDTF">2025-12-16T10:09:13Z</dcterms:modified>
  <cp:category/>
</cp:coreProperties>
</file>